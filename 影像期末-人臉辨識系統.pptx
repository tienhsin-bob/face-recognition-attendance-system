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WenQuanYi" panose="02020500000000000000" charset="-120"/>
      <p:regular r:id="rId12"/>
    </p:embeddedFont>
    <p:embeddedFont>
      <p:font typeface="王漢宗顏楷體" panose="02020500000000000000" charset="-120"/>
      <p:regular r:id="rId13"/>
    </p:embeddedFont>
    <p:embeddedFont>
      <p:font typeface="Gochi Hand" panose="02020500000000000000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6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7.svg"/><Relationship Id="rId4" Type="http://schemas.openxmlformats.org/officeDocument/2006/relationships/image" Target="../media/image15.sv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youtu.be/MaMv7m1xP3s?si=3ND2T9q4q2iSCq4V" TargetMode="External"/><Relationship Id="rId5" Type="http://schemas.openxmlformats.org/officeDocument/2006/relationships/hyperlink" Target="https://youtu.be/_OJcETYufOI?si=drnDMoGMOyZA8j7J" TargetMode="Externa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3616204" y="4430929"/>
            <a:ext cx="11055591" cy="704128"/>
            <a:chOff x="0" y="0"/>
            <a:chExt cx="2911761" cy="1854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11761" cy="185449"/>
            </a:xfrm>
            <a:custGeom>
              <a:avLst/>
              <a:gdLst/>
              <a:ahLst/>
              <a:cxnLst/>
              <a:rect l="l" t="t" r="r" b="b"/>
              <a:pathLst>
                <a:path w="2911761" h="185449">
                  <a:moveTo>
                    <a:pt x="0" y="0"/>
                  </a:moveTo>
                  <a:lnTo>
                    <a:pt x="2911761" y="0"/>
                  </a:lnTo>
                  <a:lnTo>
                    <a:pt x="2911761" y="185449"/>
                  </a:lnTo>
                  <a:lnTo>
                    <a:pt x="0" y="185449"/>
                  </a:lnTo>
                  <a:close/>
                </a:path>
              </a:pathLst>
            </a:custGeom>
            <a:solidFill>
              <a:srgbClr val="6CE5E8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911761" cy="233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50786" y="6092723"/>
            <a:ext cx="1438642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資工二甲  1122918-林起尼、1122928-呂天馨、1122932-郭妙軒、1122964-徐小山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395198" y="3909740"/>
            <a:ext cx="18810125" cy="173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385"/>
              </a:lnSpc>
              <a:spcBef>
                <a:spcPct val="0"/>
              </a:spcBef>
            </a:pPr>
            <a:r>
              <a:rPr lang="en-US" sz="11385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影像期末-人臉辨識考勤系統</a:t>
            </a:r>
          </a:p>
        </p:txBody>
      </p:sp>
      <p:sp>
        <p:nvSpPr>
          <p:cNvPr id="8" name="Freeform 8"/>
          <p:cNvSpPr/>
          <p:nvPr/>
        </p:nvSpPr>
        <p:spPr>
          <a:xfrm rot="-193124">
            <a:off x="9412018" y="6895350"/>
            <a:ext cx="2592041" cy="131958"/>
          </a:xfrm>
          <a:custGeom>
            <a:avLst/>
            <a:gdLst/>
            <a:ahLst/>
            <a:cxnLst/>
            <a:rect l="l" t="t" r="r" b="b"/>
            <a:pathLst>
              <a:path w="2592041" h="131958">
                <a:moveTo>
                  <a:pt x="0" y="0"/>
                </a:moveTo>
                <a:lnTo>
                  <a:pt x="2592040" y="0"/>
                </a:lnTo>
                <a:lnTo>
                  <a:pt x="2592040" y="131958"/>
                </a:lnTo>
                <a:lnTo>
                  <a:pt x="0" y="131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 rot="-792103">
            <a:off x="15556682" y="2016027"/>
            <a:ext cx="964652" cy="1070348"/>
          </a:xfrm>
          <a:custGeom>
            <a:avLst/>
            <a:gdLst/>
            <a:ahLst/>
            <a:cxnLst/>
            <a:rect l="l" t="t" r="r" b="b"/>
            <a:pathLst>
              <a:path w="964652" h="1070348">
                <a:moveTo>
                  <a:pt x="0" y="0"/>
                </a:moveTo>
                <a:lnTo>
                  <a:pt x="964652" y="0"/>
                </a:lnTo>
                <a:lnTo>
                  <a:pt x="964652" y="1070348"/>
                </a:lnTo>
                <a:lnTo>
                  <a:pt x="0" y="10703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462849" flipH="1">
            <a:off x="930249" y="2397613"/>
            <a:ext cx="953823" cy="1058333"/>
          </a:xfrm>
          <a:custGeom>
            <a:avLst/>
            <a:gdLst/>
            <a:ahLst/>
            <a:cxnLst/>
            <a:rect l="l" t="t" r="r" b="b"/>
            <a:pathLst>
              <a:path w="953823" h="1058333">
                <a:moveTo>
                  <a:pt x="953823" y="0"/>
                </a:moveTo>
                <a:lnTo>
                  <a:pt x="0" y="0"/>
                </a:lnTo>
                <a:lnTo>
                  <a:pt x="0" y="1058333"/>
                </a:lnTo>
                <a:lnTo>
                  <a:pt x="953823" y="1058333"/>
                </a:lnTo>
                <a:lnTo>
                  <a:pt x="95382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16039008" y="7264298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866939" y="2553632"/>
            <a:ext cx="6554123" cy="461597"/>
            <a:chOff x="0" y="0"/>
            <a:chExt cx="2698329" cy="190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98329" cy="190039"/>
            </a:xfrm>
            <a:custGeom>
              <a:avLst/>
              <a:gdLst/>
              <a:ahLst/>
              <a:cxnLst/>
              <a:rect l="l" t="t" r="r" b="b"/>
              <a:pathLst>
                <a:path w="2698329" h="190039">
                  <a:moveTo>
                    <a:pt x="0" y="0"/>
                  </a:moveTo>
                  <a:lnTo>
                    <a:pt x="2698329" y="0"/>
                  </a:lnTo>
                  <a:lnTo>
                    <a:pt x="2698329" y="190039"/>
                  </a:lnTo>
                  <a:lnTo>
                    <a:pt x="0" y="190039"/>
                  </a:lnTo>
                  <a:close/>
                </a:path>
              </a:pathLst>
            </a:custGeom>
            <a:solidFill>
              <a:srgbClr val="6CE5E8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698329" cy="237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22611" y="2146472"/>
            <a:ext cx="5442777" cy="11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83"/>
              </a:lnSpc>
              <a:spcBef>
                <a:spcPct val="0"/>
              </a:spcBef>
            </a:pPr>
            <a:r>
              <a:rPr lang="en-US" sz="7283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研究動機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21161" y="4247201"/>
            <a:ext cx="12614719" cy="3655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88"/>
              </a:lnSpc>
              <a:spcBef>
                <a:spcPct val="0"/>
              </a:spcBef>
            </a:pPr>
            <a:r>
              <a:rPr lang="en-US" sz="3800" spc="95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Gochi Hand"/>
                <a:sym typeface="Gochi Hand"/>
              </a:rPr>
              <a:t>傳統點名方式通常需要數分鐘甚至更久的時間，特別是在大班級教學中，對課堂時間的影響尤為明顯。透過人臉辨識技術，教師只需啟動系統，學生進入教室的同時即可完成自動點名，將點名時間縮短至幾秒鐘，可以增加老師教學的時間，讓更多時間能專注於課堂教學，另外也能記錄點名時間，可以知道同學是否準時出席，或是遲到。</a:t>
            </a:r>
          </a:p>
        </p:txBody>
      </p:sp>
      <p:sp>
        <p:nvSpPr>
          <p:cNvPr id="8" name="Freeform 8"/>
          <p:cNvSpPr/>
          <p:nvPr/>
        </p:nvSpPr>
        <p:spPr>
          <a:xfrm rot="6636849" flipH="1">
            <a:off x="15807292" y="311607"/>
            <a:ext cx="3194332" cy="3652563"/>
          </a:xfrm>
          <a:custGeom>
            <a:avLst/>
            <a:gdLst/>
            <a:ahLst/>
            <a:cxnLst/>
            <a:rect l="l" t="t" r="r" b="b"/>
            <a:pathLst>
              <a:path w="3194332" h="3652563">
                <a:moveTo>
                  <a:pt x="3194332" y="0"/>
                </a:moveTo>
                <a:lnTo>
                  <a:pt x="0" y="0"/>
                </a:lnTo>
                <a:lnTo>
                  <a:pt x="0" y="3652562"/>
                </a:lnTo>
                <a:lnTo>
                  <a:pt x="3194332" y="3652562"/>
                </a:lnTo>
                <a:lnTo>
                  <a:pt x="319433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 rot="10493798">
            <a:off x="-2346937" y="5308040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3422351" y="2425392"/>
            <a:ext cx="11443298" cy="589745"/>
            <a:chOff x="0" y="0"/>
            <a:chExt cx="4711200" cy="2427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200" cy="242798"/>
            </a:xfrm>
            <a:custGeom>
              <a:avLst/>
              <a:gdLst/>
              <a:ahLst/>
              <a:cxnLst/>
              <a:rect l="l" t="t" r="r" b="b"/>
              <a:pathLst>
                <a:path w="4711200" h="242798">
                  <a:moveTo>
                    <a:pt x="0" y="0"/>
                  </a:moveTo>
                  <a:lnTo>
                    <a:pt x="4711200" y="0"/>
                  </a:lnTo>
                  <a:lnTo>
                    <a:pt x="4711200" y="242798"/>
                  </a:lnTo>
                  <a:lnTo>
                    <a:pt x="0" y="242798"/>
                  </a:lnTo>
                  <a:close/>
                </a:path>
              </a:pathLst>
            </a:custGeom>
            <a:solidFill>
              <a:srgbClr val="C1FF72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200" cy="290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96214" y="2096245"/>
            <a:ext cx="10895573" cy="11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83"/>
              </a:lnSpc>
              <a:spcBef>
                <a:spcPct val="0"/>
              </a:spcBef>
            </a:pPr>
            <a:r>
              <a:rPr lang="en-US" sz="7283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研究目標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0589" y="5048250"/>
            <a:ext cx="10236054" cy="1866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88"/>
              </a:lnSpc>
              <a:spcBef>
                <a:spcPct val="0"/>
              </a:spcBef>
            </a:pPr>
            <a:r>
              <a:rPr lang="en-US" sz="3800" spc="95" dirty="0" err="1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我們想要做出來可以用在學生出缺勤紀錄，或是公司打卡用的人臉辨識考勤系統，希望能簡短打卡和點名時間</a:t>
            </a:r>
            <a:r>
              <a:rPr lang="en-US" sz="3800" spc="95" dirty="0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。</a:t>
            </a:r>
          </a:p>
        </p:txBody>
      </p:sp>
      <p:sp>
        <p:nvSpPr>
          <p:cNvPr id="8" name="Freeform 8"/>
          <p:cNvSpPr/>
          <p:nvPr/>
        </p:nvSpPr>
        <p:spPr>
          <a:xfrm>
            <a:off x="15996843" y="2124016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 rot="-628809">
            <a:off x="-1452104" y="-1095831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3422351" y="2425392"/>
            <a:ext cx="11443298" cy="589745"/>
            <a:chOff x="0" y="0"/>
            <a:chExt cx="4711200" cy="2427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200" cy="242798"/>
            </a:xfrm>
            <a:custGeom>
              <a:avLst/>
              <a:gdLst/>
              <a:ahLst/>
              <a:cxnLst/>
              <a:rect l="l" t="t" r="r" b="b"/>
              <a:pathLst>
                <a:path w="4711200" h="242798">
                  <a:moveTo>
                    <a:pt x="0" y="0"/>
                  </a:moveTo>
                  <a:lnTo>
                    <a:pt x="4711200" y="0"/>
                  </a:lnTo>
                  <a:lnTo>
                    <a:pt x="4711200" y="242798"/>
                  </a:lnTo>
                  <a:lnTo>
                    <a:pt x="0" y="242798"/>
                  </a:lnTo>
                  <a:close/>
                </a:path>
              </a:pathLst>
            </a:custGeom>
            <a:solidFill>
              <a:srgbClr val="C1FF72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200" cy="290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96214" y="2096245"/>
            <a:ext cx="10895573" cy="11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83"/>
              </a:lnSpc>
              <a:spcBef>
                <a:spcPct val="0"/>
              </a:spcBef>
            </a:pPr>
            <a:r>
              <a:rPr lang="en-US" sz="7283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使用技巧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0589" y="5048250"/>
            <a:ext cx="10236054" cy="1866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88"/>
              </a:lnSpc>
              <a:spcBef>
                <a:spcPct val="0"/>
              </a:spcBef>
            </a:pPr>
            <a:r>
              <a:rPr lang="en-US" sz="3800" spc="95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結合影像課程學習到的技術，其中包括影像轉為灰階和用resize調整大小以便更快速的辨識，再使用多項數據擷取特徵，訓練cv2模型。</a:t>
            </a:r>
          </a:p>
        </p:txBody>
      </p:sp>
      <p:sp>
        <p:nvSpPr>
          <p:cNvPr id="8" name="Freeform 8"/>
          <p:cNvSpPr/>
          <p:nvPr/>
        </p:nvSpPr>
        <p:spPr>
          <a:xfrm>
            <a:off x="15996843" y="2124016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 rot="-628809">
            <a:off x="-1452104" y="-1095831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3674313" y="4375988"/>
            <a:ext cx="2490672" cy="377394"/>
            <a:chOff x="0" y="0"/>
            <a:chExt cx="548979" cy="831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8979" cy="83183"/>
            </a:xfrm>
            <a:custGeom>
              <a:avLst/>
              <a:gdLst/>
              <a:ahLst/>
              <a:cxnLst/>
              <a:rect l="l" t="t" r="r" b="b"/>
              <a:pathLst>
                <a:path w="548979" h="83183">
                  <a:moveTo>
                    <a:pt x="0" y="0"/>
                  </a:moveTo>
                  <a:lnTo>
                    <a:pt x="548979" y="0"/>
                  </a:lnTo>
                  <a:lnTo>
                    <a:pt x="548979" y="83183"/>
                  </a:lnTo>
                  <a:lnTo>
                    <a:pt x="0" y="83183"/>
                  </a:lnTo>
                  <a:close/>
                </a:path>
              </a:pathLst>
            </a:custGeom>
            <a:solidFill>
              <a:srgbClr val="FFED00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48979" cy="13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0213" y="403297"/>
            <a:ext cx="6581555" cy="4286238"/>
          </a:xfrm>
          <a:custGeom>
            <a:avLst/>
            <a:gdLst/>
            <a:ahLst/>
            <a:cxnLst/>
            <a:rect l="l" t="t" r="r" b="b"/>
            <a:pathLst>
              <a:path w="6581555" h="4286238">
                <a:moveTo>
                  <a:pt x="0" y="0"/>
                </a:moveTo>
                <a:lnTo>
                  <a:pt x="6581556" y="0"/>
                </a:lnTo>
                <a:lnTo>
                  <a:pt x="6581556" y="4286238"/>
                </a:lnTo>
                <a:lnTo>
                  <a:pt x="0" y="4286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 rot="2575346">
            <a:off x="13246146" y="3295741"/>
            <a:ext cx="1271695" cy="555698"/>
          </a:xfrm>
          <a:custGeom>
            <a:avLst/>
            <a:gdLst/>
            <a:ahLst/>
            <a:cxnLst/>
            <a:rect l="l" t="t" r="r" b="b"/>
            <a:pathLst>
              <a:path w="1271695" h="555698">
                <a:moveTo>
                  <a:pt x="0" y="0"/>
                </a:moveTo>
                <a:lnTo>
                  <a:pt x="1271695" y="0"/>
                </a:lnTo>
                <a:lnTo>
                  <a:pt x="1271695" y="555698"/>
                </a:lnTo>
                <a:lnTo>
                  <a:pt x="0" y="555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3826571" y="4185657"/>
            <a:ext cx="2186156" cy="65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01"/>
              </a:lnSpc>
              <a:spcBef>
                <a:spcPct val="0"/>
              </a:spcBef>
            </a:pPr>
            <a:r>
              <a:rPr lang="en-US" sz="4301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儲存模型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41781" y="5045855"/>
            <a:ext cx="5092226" cy="15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389" spc="59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使用 recog.train(faces, np.array(ids)) </a:t>
            </a:r>
          </a:p>
          <a:p>
            <a:pPr algn="l">
              <a:lnSpc>
                <a:spcPts val="3011"/>
              </a:lnSpc>
            </a:pPr>
            <a:r>
              <a:rPr lang="en-US" sz="2389" spc="59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訓練人臉辨識模型。</a:t>
            </a:r>
          </a:p>
          <a:p>
            <a:pPr marL="0" lvl="0" indent="0" algn="l">
              <a:lnSpc>
                <a:spcPts val="3011"/>
              </a:lnSpc>
              <a:spcBef>
                <a:spcPct val="0"/>
              </a:spcBef>
            </a:pPr>
            <a:r>
              <a:rPr lang="en-US" sz="2389" spc="59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訓練完成後將模型儲存為 face.yml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74829" y="1915377"/>
            <a:ext cx="5305934" cy="1366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3"/>
              </a:lnSpc>
            </a:pPr>
            <a:r>
              <a:rPr lang="en-US" sz="9659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系統流程</a:t>
            </a:r>
          </a:p>
        </p:txBody>
      </p:sp>
      <p:sp>
        <p:nvSpPr>
          <p:cNvPr id="11" name="Freeform 11"/>
          <p:cNvSpPr/>
          <p:nvPr/>
        </p:nvSpPr>
        <p:spPr>
          <a:xfrm rot="4644395">
            <a:off x="9181172" y="4941401"/>
            <a:ext cx="879638" cy="555698"/>
          </a:xfrm>
          <a:custGeom>
            <a:avLst/>
            <a:gdLst/>
            <a:ahLst/>
            <a:cxnLst/>
            <a:rect l="l" t="t" r="r" b="b"/>
            <a:pathLst>
              <a:path w="879638" h="555698">
                <a:moveTo>
                  <a:pt x="0" y="0"/>
                </a:moveTo>
                <a:lnTo>
                  <a:pt x="879638" y="0"/>
                </a:lnTo>
                <a:lnTo>
                  <a:pt x="879638" y="555699"/>
                </a:lnTo>
                <a:lnTo>
                  <a:pt x="0" y="555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4570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8039351" y="5959042"/>
            <a:ext cx="2776889" cy="327549"/>
            <a:chOff x="0" y="0"/>
            <a:chExt cx="691285" cy="815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1285" cy="81541"/>
            </a:xfrm>
            <a:custGeom>
              <a:avLst/>
              <a:gdLst/>
              <a:ahLst/>
              <a:cxnLst/>
              <a:rect l="l" t="t" r="r" b="b"/>
              <a:pathLst>
                <a:path w="691285" h="81541">
                  <a:moveTo>
                    <a:pt x="0" y="0"/>
                  </a:moveTo>
                  <a:lnTo>
                    <a:pt x="691285" y="0"/>
                  </a:lnTo>
                  <a:lnTo>
                    <a:pt x="691285" y="81541"/>
                  </a:lnTo>
                  <a:lnTo>
                    <a:pt x="0" y="81541"/>
                  </a:lnTo>
                  <a:close/>
                </a:path>
              </a:pathLst>
            </a:custGeom>
            <a:solidFill>
              <a:srgbClr val="FFED00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691285" cy="129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59503" y="5782834"/>
            <a:ext cx="2536586" cy="57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08"/>
              </a:lnSpc>
              <a:spcBef>
                <a:spcPct val="0"/>
              </a:spcBef>
            </a:pPr>
            <a:r>
              <a:rPr lang="en-US" sz="3808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準備資料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2708" y="6553228"/>
            <a:ext cx="5599060" cy="337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遍歷資料夾中的圖片（人臉圖片），</a:t>
            </a:r>
          </a:p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對兩個資料集進行處理：</a:t>
            </a:r>
          </a:p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讀取圖像，若無法讀取則跳過。</a:t>
            </a:r>
          </a:p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將彩色圖像轉為灰階以提升辨識效率。</a:t>
            </a:r>
          </a:p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使用 detectMultiScale() 偵測人臉區域，</a:t>
            </a:r>
          </a:p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返回人臉的座標與大小。</a:t>
            </a:r>
          </a:p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從灰階圖像中擷取人臉區域，</a:t>
            </a:r>
          </a:p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並新增到 faces 列表中。</a:t>
            </a:r>
          </a:p>
          <a:p>
            <a:pPr algn="l">
              <a:lnSpc>
                <a:spcPts val="2666"/>
              </a:lnSpc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根據人臉所屬人物的類別，</a:t>
            </a:r>
          </a:p>
          <a:p>
            <a:pPr marL="0" lvl="0" indent="0" algn="l">
              <a:lnSpc>
                <a:spcPts val="2666"/>
              </a:lnSpc>
              <a:spcBef>
                <a:spcPct val="0"/>
              </a:spcBef>
            </a:pPr>
            <a:r>
              <a:rPr lang="en-US" sz="2115" spc="5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將 ID 添加到 ids 列表中。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502547" y="3678929"/>
            <a:ext cx="2295359" cy="370445"/>
            <a:chOff x="0" y="0"/>
            <a:chExt cx="515419" cy="831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5419" cy="83183"/>
            </a:xfrm>
            <a:custGeom>
              <a:avLst/>
              <a:gdLst/>
              <a:ahLst/>
              <a:cxnLst/>
              <a:rect l="l" t="t" r="r" b="b"/>
              <a:pathLst>
                <a:path w="515419" h="83183">
                  <a:moveTo>
                    <a:pt x="0" y="0"/>
                  </a:moveTo>
                  <a:lnTo>
                    <a:pt x="515419" y="0"/>
                  </a:lnTo>
                  <a:lnTo>
                    <a:pt x="515419" y="83183"/>
                  </a:lnTo>
                  <a:lnTo>
                    <a:pt x="0" y="83183"/>
                  </a:lnTo>
                  <a:close/>
                </a:path>
              </a:pathLst>
            </a:custGeom>
            <a:solidFill>
              <a:srgbClr val="FFED00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515419" cy="13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52001" y="3467600"/>
            <a:ext cx="2145905" cy="64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22"/>
              </a:lnSpc>
              <a:spcBef>
                <a:spcPct val="0"/>
              </a:spcBef>
            </a:pPr>
            <a:r>
              <a:rPr lang="en-US" sz="422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載入模型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8647" y="4442832"/>
            <a:ext cx="6318519" cy="190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345" spc="58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使用 OpenCV 的 CascadeClassifier 載入 Haar 特徵級聯檢測模型，用於人臉偵測。</a:t>
            </a:r>
          </a:p>
          <a:p>
            <a:pPr marL="0" lvl="0" indent="0" algn="l">
              <a:lnSpc>
                <a:spcPts val="2955"/>
              </a:lnSpc>
              <a:spcBef>
                <a:spcPct val="0"/>
              </a:spcBef>
            </a:pPr>
            <a:r>
              <a:rPr lang="en-US" sz="2345" spc="58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使用 cv2.face.LBPHFaceRecognizer_create() 初始化 LBPH (Local Binary Patterns Histograms) 人臉辨識模型。</a:t>
            </a:r>
          </a:p>
        </p:txBody>
      </p:sp>
      <p:sp>
        <p:nvSpPr>
          <p:cNvPr id="22" name="Freeform 22"/>
          <p:cNvSpPr/>
          <p:nvPr/>
        </p:nvSpPr>
        <p:spPr>
          <a:xfrm rot="-2158304" flipH="1">
            <a:off x="4702241" y="2987949"/>
            <a:ext cx="1271695" cy="555698"/>
          </a:xfrm>
          <a:custGeom>
            <a:avLst/>
            <a:gdLst/>
            <a:ahLst/>
            <a:cxnLst/>
            <a:rect l="l" t="t" r="r" b="b"/>
            <a:pathLst>
              <a:path w="1271695" h="555698">
                <a:moveTo>
                  <a:pt x="1271694" y="0"/>
                </a:moveTo>
                <a:lnTo>
                  <a:pt x="0" y="0"/>
                </a:lnTo>
                <a:lnTo>
                  <a:pt x="0" y="555698"/>
                </a:lnTo>
                <a:lnTo>
                  <a:pt x="1271694" y="555698"/>
                </a:lnTo>
                <a:lnTo>
                  <a:pt x="12716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Freeform 23"/>
          <p:cNvSpPr/>
          <p:nvPr/>
        </p:nvSpPr>
        <p:spPr>
          <a:xfrm>
            <a:off x="15317863" y="-1158763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4" y="0"/>
                </a:lnTo>
                <a:lnTo>
                  <a:pt x="3882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Freeform 24"/>
          <p:cNvSpPr/>
          <p:nvPr/>
        </p:nvSpPr>
        <p:spPr>
          <a:xfrm>
            <a:off x="-892810" y="7200900"/>
            <a:ext cx="3412605" cy="3616441"/>
          </a:xfrm>
          <a:custGeom>
            <a:avLst/>
            <a:gdLst/>
            <a:ahLst/>
            <a:cxnLst/>
            <a:rect l="l" t="t" r="r" b="b"/>
            <a:pathLst>
              <a:path w="3412605" h="3616441">
                <a:moveTo>
                  <a:pt x="0" y="0"/>
                </a:moveTo>
                <a:lnTo>
                  <a:pt x="3412605" y="0"/>
                </a:lnTo>
                <a:lnTo>
                  <a:pt x="3412605" y="3616441"/>
                </a:lnTo>
                <a:lnTo>
                  <a:pt x="0" y="36164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7852656" y="460573"/>
            <a:ext cx="2359831" cy="1156317"/>
          </a:xfrm>
          <a:custGeom>
            <a:avLst/>
            <a:gdLst/>
            <a:ahLst/>
            <a:cxnLst/>
            <a:rect l="l" t="t" r="r" b="b"/>
            <a:pathLst>
              <a:path w="2359831" h="1156317">
                <a:moveTo>
                  <a:pt x="0" y="0"/>
                </a:moveTo>
                <a:lnTo>
                  <a:pt x="2359831" y="0"/>
                </a:lnTo>
                <a:lnTo>
                  <a:pt x="2359831" y="1156317"/>
                </a:lnTo>
                <a:lnTo>
                  <a:pt x="0" y="11563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4" name="Freeform 4"/>
          <p:cNvSpPr/>
          <p:nvPr/>
        </p:nvSpPr>
        <p:spPr>
          <a:xfrm rot="-5400000">
            <a:off x="8516073" y="1198482"/>
            <a:ext cx="1032997" cy="2671730"/>
          </a:xfrm>
          <a:custGeom>
            <a:avLst/>
            <a:gdLst/>
            <a:ahLst/>
            <a:cxnLst/>
            <a:rect l="l" t="t" r="r" b="b"/>
            <a:pathLst>
              <a:path w="1032997" h="2671730">
                <a:moveTo>
                  <a:pt x="0" y="0"/>
                </a:moveTo>
                <a:lnTo>
                  <a:pt x="1032997" y="0"/>
                </a:lnTo>
                <a:lnTo>
                  <a:pt x="1032997" y="2671731"/>
                </a:lnTo>
                <a:lnTo>
                  <a:pt x="0" y="2671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5" name="Freeform 5"/>
          <p:cNvSpPr/>
          <p:nvPr/>
        </p:nvSpPr>
        <p:spPr>
          <a:xfrm rot="-5400000">
            <a:off x="11579909" y="1198482"/>
            <a:ext cx="1032997" cy="2671730"/>
          </a:xfrm>
          <a:custGeom>
            <a:avLst/>
            <a:gdLst/>
            <a:ahLst/>
            <a:cxnLst/>
            <a:rect l="l" t="t" r="r" b="b"/>
            <a:pathLst>
              <a:path w="1032997" h="2671730">
                <a:moveTo>
                  <a:pt x="0" y="0"/>
                </a:moveTo>
                <a:lnTo>
                  <a:pt x="1032997" y="0"/>
                </a:lnTo>
                <a:lnTo>
                  <a:pt x="1032997" y="2671731"/>
                </a:lnTo>
                <a:lnTo>
                  <a:pt x="0" y="2671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607012" y="6052902"/>
            <a:ext cx="2745436" cy="1843894"/>
          </a:xfrm>
          <a:custGeom>
            <a:avLst/>
            <a:gdLst/>
            <a:ahLst/>
            <a:cxnLst/>
            <a:rect l="l" t="t" r="r" b="b"/>
            <a:pathLst>
              <a:path w="2745436" h="1843894">
                <a:moveTo>
                  <a:pt x="0" y="0"/>
                </a:moveTo>
                <a:lnTo>
                  <a:pt x="2745436" y="0"/>
                </a:lnTo>
                <a:lnTo>
                  <a:pt x="2745436" y="1843894"/>
                </a:lnTo>
                <a:lnTo>
                  <a:pt x="0" y="18438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06217" y="2184787"/>
            <a:ext cx="1811789" cy="5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face 01</a:t>
            </a:r>
          </a:p>
        </p:txBody>
      </p:sp>
      <p:sp>
        <p:nvSpPr>
          <p:cNvPr id="8" name="AutoShape 8"/>
          <p:cNvSpPr/>
          <p:nvPr/>
        </p:nvSpPr>
        <p:spPr>
          <a:xfrm flipH="1">
            <a:off x="6515904" y="1363576"/>
            <a:ext cx="1551453" cy="5360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061404" y="1297114"/>
            <a:ext cx="1565781" cy="6025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064070" y="1569550"/>
            <a:ext cx="0" cy="4009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516681" y="3799712"/>
            <a:ext cx="2907887" cy="129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dirty="0" err="1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人臉檢測</a:t>
            </a:r>
            <a:endParaRPr lang="en-US" sz="3700" dirty="0">
              <a:solidFill>
                <a:srgbClr val="000000"/>
              </a:solidFill>
              <a:latin typeface="王漢宗顏楷體" panose="02020500000000000000" charset="-120"/>
              <a:ea typeface="王漢宗顏楷體" panose="02020500000000000000" charset="-120"/>
              <a:cs typeface="WenQuanYi"/>
              <a:sym typeface="WenQuanYi"/>
            </a:endParaRPr>
          </a:p>
          <a:p>
            <a:pPr algn="ctr">
              <a:lnSpc>
                <a:spcPts val="5180"/>
              </a:lnSpc>
            </a:pPr>
            <a:r>
              <a:rPr lang="en-US" sz="3700" dirty="0" err="1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模型</a:t>
            </a:r>
            <a:endParaRPr lang="en-US" sz="3700" dirty="0">
              <a:solidFill>
                <a:srgbClr val="000000"/>
              </a:solidFill>
              <a:latin typeface="王漢宗顏楷體" panose="02020500000000000000" charset="-120"/>
              <a:ea typeface="王漢宗顏楷體" panose="02020500000000000000" charset="-120"/>
              <a:cs typeface="WenQuanYi"/>
              <a:sym typeface="WenQuanYi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57849" y="3118371"/>
            <a:ext cx="1267939" cy="69001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096552" y="3050789"/>
            <a:ext cx="0" cy="5561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4" name="AutoShape 14"/>
          <p:cNvSpPr/>
          <p:nvPr/>
        </p:nvSpPr>
        <p:spPr>
          <a:xfrm flipH="1">
            <a:off x="10387604" y="3118371"/>
            <a:ext cx="1296731" cy="7403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017830" y="5450826"/>
            <a:ext cx="0" cy="5561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6" name="Freeform 16"/>
          <p:cNvSpPr/>
          <p:nvPr/>
        </p:nvSpPr>
        <p:spPr>
          <a:xfrm rot="-5400000">
            <a:off x="5675094" y="1198482"/>
            <a:ext cx="1032997" cy="2671730"/>
          </a:xfrm>
          <a:custGeom>
            <a:avLst/>
            <a:gdLst/>
            <a:ahLst/>
            <a:cxnLst/>
            <a:rect l="l" t="t" r="r" b="b"/>
            <a:pathLst>
              <a:path w="1032997" h="2671730">
                <a:moveTo>
                  <a:pt x="0" y="0"/>
                </a:moveTo>
                <a:lnTo>
                  <a:pt x="1032997" y="0"/>
                </a:lnTo>
                <a:lnTo>
                  <a:pt x="1032997" y="2671731"/>
                </a:lnTo>
                <a:lnTo>
                  <a:pt x="0" y="2671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998780" y="7896796"/>
            <a:ext cx="0" cy="5561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7583808" y="3606932"/>
            <a:ext cx="2745436" cy="1843894"/>
          </a:xfrm>
          <a:custGeom>
            <a:avLst/>
            <a:gdLst/>
            <a:ahLst/>
            <a:cxnLst/>
            <a:rect l="l" t="t" r="r" b="b"/>
            <a:pathLst>
              <a:path w="2745436" h="1843894">
                <a:moveTo>
                  <a:pt x="0" y="0"/>
                </a:moveTo>
                <a:lnTo>
                  <a:pt x="2745436" y="0"/>
                </a:lnTo>
                <a:lnTo>
                  <a:pt x="2745436" y="1843894"/>
                </a:lnTo>
                <a:lnTo>
                  <a:pt x="0" y="18438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7837486" y="8519613"/>
            <a:ext cx="2322588" cy="1268714"/>
          </a:xfrm>
          <a:custGeom>
            <a:avLst/>
            <a:gdLst/>
            <a:ahLst/>
            <a:cxnLst/>
            <a:rect l="l" t="t" r="r" b="b"/>
            <a:pathLst>
              <a:path w="2322588" h="1268714">
                <a:moveTo>
                  <a:pt x="0" y="0"/>
                </a:moveTo>
                <a:lnTo>
                  <a:pt x="2322589" y="0"/>
                </a:lnTo>
                <a:lnTo>
                  <a:pt x="2322589" y="1268714"/>
                </a:lnTo>
                <a:lnTo>
                  <a:pt x="0" y="12687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035107" y="2167854"/>
            <a:ext cx="1914757" cy="5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face 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56624" y="2184787"/>
            <a:ext cx="1868686" cy="5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face 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68822" y="689171"/>
            <a:ext cx="1727498" cy="56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程式開始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25787" y="6288414"/>
            <a:ext cx="2907887" cy="129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訓練模型</a:t>
            </a: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紀錄數據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44837" y="8796148"/>
            <a:ext cx="2907887" cy="6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儲存模型</a:t>
            </a:r>
          </a:p>
        </p:txBody>
      </p:sp>
      <p:sp>
        <p:nvSpPr>
          <p:cNvPr id="25" name="AutoShape 25"/>
          <p:cNvSpPr/>
          <p:nvPr/>
        </p:nvSpPr>
        <p:spPr>
          <a:xfrm flipV="1">
            <a:off x="10146496" y="9182671"/>
            <a:ext cx="5561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0760542" y="8548314"/>
            <a:ext cx="2322588" cy="1268714"/>
          </a:xfrm>
          <a:custGeom>
            <a:avLst/>
            <a:gdLst/>
            <a:ahLst/>
            <a:cxnLst/>
            <a:rect l="l" t="t" r="r" b="b"/>
            <a:pathLst>
              <a:path w="2322588" h="1268714">
                <a:moveTo>
                  <a:pt x="0" y="0"/>
                </a:moveTo>
                <a:lnTo>
                  <a:pt x="2322589" y="0"/>
                </a:lnTo>
                <a:lnTo>
                  <a:pt x="2322589" y="1268714"/>
                </a:lnTo>
                <a:lnTo>
                  <a:pt x="0" y="12687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467893" y="8900478"/>
            <a:ext cx="2907887" cy="6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結束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5468" y="605978"/>
            <a:ext cx="4285737" cy="111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700" dirty="0" err="1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訓練模型</a:t>
            </a:r>
            <a:r>
              <a:rPr lang="en-US" sz="6700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:</a:t>
            </a:r>
          </a:p>
        </p:txBody>
      </p:sp>
      <p:sp>
        <p:nvSpPr>
          <p:cNvPr id="29" name="Freeform 29"/>
          <p:cNvSpPr/>
          <p:nvPr/>
        </p:nvSpPr>
        <p:spPr>
          <a:xfrm>
            <a:off x="15317863" y="-1158763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4" y="0"/>
                </a:lnTo>
                <a:lnTo>
                  <a:pt x="3882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-892810" y="7200900"/>
            <a:ext cx="3412605" cy="3616441"/>
          </a:xfrm>
          <a:custGeom>
            <a:avLst/>
            <a:gdLst/>
            <a:ahLst/>
            <a:cxnLst/>
            <a:rect l="l" t="t" r="r" b="b"/>
            <a:pathLst>
              <a:path w="3412605" h="3616441">
                <a:moveTo>
                  <a:pt x="0" y="0"/>
                </a:moveTo>
                <a:lnTo>
                  <a:pt x="3412605" y="0"/>
                </a:lnTo>
                <a:lnTo>
                  <a:pt x="3412605" y="3616441"/>
                </a:lnTo>
                <a:lnTo>
                  <a:pt x="0" y="36164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7852656" y="460573"/>
            <a:ext cx="2359831" cy="1156317"/>
          </a:xfrm>
          <a:custGeom>
            <a:avLst/>
            <a:gdLst/>
            <a:ahLst/>
            <a:cxnLst/>
            <a:rect l="l" t="t" r="r" b="b"/>
            <a:pathLst>
              <a:path w="2359831" h="1156317">
                <a:moveTo>
                  <a:pt x="0" y="0"/>
                </a:moveTo>
                <a:lnTo>
                  <a:pt x="2359831" y="0"/>
                </a:lnTo>
                <a:lnTo>
                  <a:pt x="2359831" y="1156317"/>
                </a:lnTo>
                <a:lnTo>
                  <a:pt x="0" y="11563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9064070" y="1569550"/>
            <a:ext cx="0" cy="4009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102170" y="3926002"/>
            <a:ext cx="0" cy="5561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102170" y="5893503"/>
            <a:ext cx="0" cy="5561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102170" y="7746935"/>
            <a:ext cx="0" cy="5561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7710402" y="2091633"/>
            <a:ext cx="2745436" cy="1843894"/>
          </a:xfrm>
          <a:custGeom>
            <a:avLst/>
            <a:gdLst/>
            <a:ahLst/>
            <a:cxnLst/>
            <a:rect l="l" t="t" r="r" b="b"/>
            <a:pathLst>
              <a:path w="2745436" h="1843894">
                <a:moveTo>
                  <a:pt x="0" y="0"/>
                </a:moveTo>
                <a:lnTo>
                  <a:pt x="2745437" y="0"/>
                </a:lnTo>
                <a:lnTo>
                  <a:pt x="2745437" y="1843894"/>
                </a:lnTo>
                <a:lnTo>
                  <a:pt x="0" y="18438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940876" y="6478221"/>
            <a:ext cx="2322588" cy="1268714"/>
          </a:xfrm>
          <a:custGeom>
            <a:avLst/>
            <a:gdLst/>
            <a:ahLst/>
            <a:cxnLst/>
            <a:rect l="l" t="t" r="r" b="b"/>
            <a:pathLst>
              <a:path w="2322588" h="1268714">
                <a:moveTo>
                  <a:pt x="0" y="0"/>
                </a:moveTo>
                <a:lnTo>
                  <a:pt x="2322589" y="0"/>
                </a:lnTo>
                <a:lnTo>
                  <a:pt x="2322589" y="1268714"/>
                </a:lnTo>
                <a:lnTo>
                  <a:pt x="0" y="12687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68822" y="689171"/>
            <a:ext cx="1727498" cy="56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程式開始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48227" y="6754756"/>
            <a:ext cx="2907887" cy="6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人臉辨識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10239566" y="8994584"/>
            <a:ext cx="5561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0853612" y="8360227"/>
            <a:ext cx="2322588" cy="1268714"/>
          </a:xfrm>
          <a:custGeom>
            <a:avLst/>
            <a:gdLst/>
            <a:ahLst/>
            <a:cxnLst/>
            <a:rect l="l" t="t" r="r" b="b"/>
            <a:pathLst>
              <a:path w="2322588" h="1268714">
                <a:moveTo>
                  <a:pt x="0" y="0"/>
                </a:moveTo>
                <a:lnTo>
                  <a:pt x="2322588" y="0"/>
                </a:lnTo>
                <a:lnTo>
                  <a:pt x="2322588" y="1268714"/>
                </a:lnTo>
                <a:lnTo>
                  <a:pt x="0" y="12687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560963" y="8712391"/>
            <a:ext cx="2907887" cy="6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結束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5468" y="605978"/>
            <a:ext cx="4366127" cy="111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700" dirty="0" err="1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辨識執行</a:t>
            </a:r>
            <a:r>
              <a:rPr lang="en-US" sz="6700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:</a:t>
            </a:r>
          </a:p>
        </p:txBody>
      </p:sp>
      <p:sp>
        <p:nvSpPr>
          <p:cNvPr id="16" name="Freeform 16"/>
          <p:cNvSpPr/>
          <p:nvPr/>
        </p:nvSpPr>
        <p:spPr>
          <a:xfrm>
            <a:off x="7849019" y="4508193"/>
            <a:ext cx="2570911" cy="1404360"/>
          </a:xfrm>
          <a:custGeom>
            <a:avLst/>
            <a:gdLst/>
            <a:ahLst/>
            <a:cxnLst/>
            <a:rect l="l" t="t" r="r" b="b"/>
            <a:pathLst>
              <a:path w="2570911" h="1404360">
                <a:moveTo>
                  <a:pt x="0" y="0"/>
                </a:moveTo>
                <a:lnTo>
                  <a:pt x="2570912" y="0"/>
                </a:lnTo>
                <a:lnTo>
                  <a:pt x="2570912" y="1404360"/>
                </a:lnTo>
                <a:lnTo>
                  <a:pt x="0" y="1404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80532" y="4852551"/>
            <a:ext cx="2907887" cy="6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開啟攝像頭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3113" y="2260268"/>
            <a:ext cx="3181914" cy="129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載入</a:t>
            </a:r>
          </a:p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訓練模型</a:t>
            </a:r>
          </a:p>
        </p:txBody>
      </p:sp>
      <p:sp>
        <p:nvSpPr>
          <p:cNvPr id="19" name="Freeform 19"/>
          <p:cNvSpPr/>
          <p:nvPr/>
        </p:nvSpPr>
        <p:spPr>
          <a:xfrm>
            <a:off x="7916977" y="8360227"/>
            <a:ext cx="2322588" cy="1268714"/>
          </a:xfrm>
          <a:custGeom>
            <a:avLst/>
            <a:gdLst/>
            <a:ahLst/>
            <a:cxnLst/>
            <a:rect l="l" t="t" r="r" b="b"/>
            <a:pathLst>
              <a:path w="2322588" h="1268714">
                <a:moveTo>
                  <a:pt x="0" y="0"/>
                </a:moveTo>
                <a:lnTo>
                  <a:pt x="2322589" y="0"/>
                </a:lnTo>
                <a:lnTo>
                  <a:pt x="2322589" y="1268714"/>
                </a:lnTo>
                <a:lnTo>
                  <a:pt x="0" y="12687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624328" y="8636762"/>
            <a:ext cx="2907887" cy="6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WenQuanYi"/>
                <a:sym typeface="WenQuanYi"/>
              </a:rPr>
              <a:t>顯示結果</a:t>
            </a:r>
          </a:p>
        </p:txBody>
      </p:sp>
      <p:sp>
        <p:nvSpPr>
          <p:cNvPr id="21" name="Freeform 21"/>
          <p:cNvSpPr/>
          <p:nvPr/>
        </p:nvSpPr>
        <p:spPr>
          <a:xfrm>
            <a:off x="15317863" y="-1158763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4" y="0"/>
                </a:lnTo>
                <a:lnTo>
                  <a:pt x="3882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-892810" y="7200900"/>
            <a:ext cx="3412605" cy="3616441"/>
          </a:xfrm>
          <a:custGeom>
            <a:avLst/>
            <a:gdLst/>
            <a:ahLst/>
            <a:cxnLst/>
            <a:rect l="l" t="t" r="r" b="b"/>
            <a:pathLst>
              <a:path w="3412605" h="3616441">
                <a:moveTo>
                  <a:pt x="0" y="0"/>
                </a:moveTo>
                <a:lnTo>
                  <a:pt x="3412605" y="0"/>
                </a:lnTo>
                <a:lnTo>
                  <a:pt x="3412605" y="3616441"/>
                </a:lnTo>
                <a:lnTo>
                  <a:pt x="0" y="361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王漢宗顏楷體" panose="02020500000000000000" charset="-120"/>
              <a:ea typeface="王漢宗顏楷體" panose="02020500000000000000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2795043" y="4930004"/>
            <a:ext cx="5454111" cy="424260"/>
            <a:chOff x="0" y="0"/>
            <a:chExt cx="907334" cy="705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7334" cy="70579"/>
            </a:xfrm>
            <a:custGeom>
              <a:avLst/>
              <a:gdLst/>
              <a:ahLst/>
              <a:cxnLst/>
              <a:rect l="l" t="t" r="r" b="b"/>
              <a:pathLst>
                <a:path w="907334" h="70579">
                  <a:moveTo>
                    <a:pt x="0" y="0"/>
                  </a:moveTo>
                  <a:lnTo>
                    <a:pt x="907334" y="0"/>
                  </a:lnTo>
                  <a:lnTo>
                    <a:pt x="907334" y="70579"/>
                  </a:lnTo>
                  <a:lnTo>
                    <a:pt x="0" y="70579"/>
                  </a:lnTo>
                  <a:close/>
                </a:path>
              </a:pathLst>
            </a:custGeom>
            <a:solidFill>
              <a:srgbClr val="FF66C4">
                <a:alpha val="66667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07334" cy="118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76482" y="5673442"/>
            <a:ext cx="8545344" cy="75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2"/>
              </a:lnSpc>
              <a:spcBef>
                <a:spcPct val="0"/>
              </a:spcBef>
            </a:pPr>
            <a:r>
              <a:rPr lang="en-US" sz="2374" spc="59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Gochi Hand"/>
                <a:sym typeface="Gochi Hand"/>
              </a:rPr>
              <a:t>因為CV2無法顯示中文人名，導致我們誤會我們的辨識系統無法辨識，困擾許久。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7361" y="619388"/>
            <a:ext cx="6272168" cy="149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76"/>
              </a:lnSpc>
            </a:pPr>
            <a:r>
              <a:rPr lang="en-US" sz="10662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過程困境</a:t>
            </a:r>
          </a:p>
        </p:txBody>
      </p:sp>
      <p:sp>
        <p:nvSpPr>
          <p:cNvPr id="8" name="Freeform 8"/>
          <p:cNvSpPr/>
          <p:nvPr/>
        </p:nvSpPr>
        <p:spPr>
          <a:xfrm rot="-193124">
            <a:off x="3474180" y="2116960"/>
            <a:ext cx="3644325" cy="185529"/>
          </a:xfrm>
          <a:custGeom>
            <a:avLst/>
            <a:gdLst/>
            <a:ahLst/>
            <a:cxnLst/>
            <a:rect l="l" t="t" r="r" b="b"/>
            <a:pathLst>
              <a:path w="3644325" h="185529">
                <a:moveTo>
                  <a:pt x="0" y="0"/>
                </a:moveTo>
                <a:lnTo>
                  <a:pt x="3644324" y="0"/>
                </a:lnTo>
                <a:lnTo>
                  <a:pt x="3644324" y="185529"/>
                </a:lnTo>
                <a:lnTo>
                  <a:pt x="0" y="185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2795043" y="2926118"/>
            <a:ext cx="5358738" cy="379580"/>
            <a:chOff x="0" y="0"/>
            <a:chExt cx="891468" cy="631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1468" cy="63146"/>
            </a:xfrm>
            <a:custGeom>
              <a:avLst/>
              <a:gdLst/>
              <a:ahLst/>
              <a:cxnLst/>
              <a:rect l="l" t="t" r="r" b="b"/>
              <a:pathLst>
                <a:path w="891468" h="63146">
                  <a:moveTo>
                    <a:pt x="0" y="0"/>
                  </a:moveTo>
                  <a:lnTo>
                    <a:pt x="891468" y="0"/>
                  </a:lnTo>
                  <a:lnTo>
                    <a:pt x="891468" y="63146"/>
                  </a:lnTo>
                  <a:lnTo>
                    <a:pt x="0" y="63146"/>
                  </a:lnTo>
                  <a:close/>
                </a:path>
              </a:pathLst>
            </a:custGeom>
            <a:solidFill>
              <a:srgbClr val="FF66C4">
                <a:alpha val="66667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91468" cy="110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852488" y="3811506"/>
            <a:ext cx="8545344" cy="75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2"/>
              </a:lnSpc>
              <a:spcBef>
                <a:spcPct val="0"/>
              </a:spcBef>
            </a:pPr>
            <a:r>
              <a:rPr lang="en-US" sz="2374" spc="59" dirty="0" err="1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Gochi Hand"/>
                <a:sym typeface="Gochi Hand"/>
              </a:rPr>
              <a:t>當訓練資料加入更多時，可降低錯誤率，若將資料替換成近期照片，則可大幅提升準確率</a:t>
            </a:r>
            <a:r>
              <a:rPr lang="en-US" sz="2374" spc="59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Gochi Hand"/>
                <a:sym typeface="Gochi Hand"/>
              </a:rPr>
              <a:t>。</a:t>
            </a:r>
          </a:p>
        </p:txBody>
      </p:sp>
      <p:sp>
        <p:nvSpPr>
          <p:cNvPr id="13" name="Freeform 13"/>
          <p:cNvSpPr/>
          <p:nvPr/>
        </p:nvSpPr>
        <p:spPr>
          <a:xfrm rot="-6080215" flipH="1">
            <a:off x="-981093" y="-337126"/>
            <a:ext cx="3194332" cy="3652563"/>
          </a:xfrm>
          <a:custGeom>
            <a:avLst/>
            <a:gdLst/>
            <a:ahLst/>
            <a:cxnLst/>
            <a:rect l="l" t="t" r="r" b="b"/>
            <a:pathLst>
              <a:path w="3194332" h="3652563">
                <a:moveTo>
                  <a:pt x="3194332" y="0"/>
                </a:moveTo>
                <a:lnTo>
                  <a:pt x="0" y="0"/>
                </a:lnTo>
                <a:lnTo>
                  <a:pt x="0" y="3652563"/>
                </a:lnTo>
                <a:lnTo>
                  <a:pt x="3194332" y="3652563"/>
                </a:lnTo>
                <a:lnTo>
                  <a:pt x="31943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6080215" flipH="1">
            <a:off x="15916079" y="7432019"/>
            <a:ext cx="3194332" cy="3652563"/>
          </a:xfrm>
          <a:custGeom>
            <a:avLst/>
            <a:gdLst/>
            <a:ahLst/>
            <a:cxnLst/>
            <a:rect l="l" t="t" r="r" b="b"/>
            <a:pathLst>
              <a:path w="3194332" h="3652563">
                <a:moveTo>
                  <a:pt x="3194333" y="0"/>
                </a:moveTo>
                <a:lnTo>
                  <a:pt x="0" y="0"/>
                </a:lnTo>
                <a:lnTo>
                  <a:pt x="0" y="3652562"/>
                </a:lnTo>
                <a:lnTo>
                  <a:pt x="3194333" y="3652562"/>
                </a:lnTo>
                <a:lnTo>
                  <a:pt x="319433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3041714" y="4812065"/>
            <a:ext cx="5112066" cy="64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16"/>
              </a:lnSpc>
              <a:spcBef>
                <a:spcPct val="0"/>
              </a:spcBef>
            </a:pPr>
            <a:r>
              <a:rPr lang="en-US" sz="4116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無法顯示中文人名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85604" y="2785839"/>
            <a:ext cx="5363550" cy="64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16"/>
              </a:lnSpc>
              <a:spcBef>
                <a:spcPct val="0"/>
              </a:spcBef>
            </a:pPr>
            <a:r>
              <a:rPr lang="en-US" sz="4116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辨識相似樣貌結果一樣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720688" y="6697604"/>
            <a:ext cx="12687942" cy="511946"/>
            <a:chOff x="0" y="0"/>
            <a:chExt cx="2110738" cy="851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0738" cy="85166"/>
            </a:xfrm>
            <a:custGeom>
              <a:avLst/>
              <a:gdLst/>
              <a:ahLst/>
              <a:cxnLst/>
              <a:rect l="l" t="t" r="r" b="b"/>
              <a:pathLst>
                <a:path w="2110738" h="85166">
                  <a:moveTo>
                    <a:pt x="0" y="0"/>
                  </a:moveTo>
                  <a:lnTo>
                    <a:pt x="2110738" y="0"/>
                  </a:lnTo>
                  <a:lnTo>
                    <a:pt x="2110738" y="85166"/>
                  </a:lnTo>
                  <a:lnTo>
                    <a:pt x="0" y="85166"/>
                  </a:lnTo>
                  <a:close/>
                </a:path>
              </a:pathLst>
            </a:custGeom>
            <a:solidFill>
              <a:srgbClr val="FF66C4">
                <a:alpha val="66667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110738" cy="142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914531" y="6623566"/>
            <a:ext cx="12482338" cy="64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11"/>
              </a:lnSpc>
              <a:spcBef>
                <a:spcPct val="0"/>
              </a:spcBef>
            </a:pPr>
            <a:r>
              <a:rPr lang="en-US" sz="4111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haarcascade_frontalface_default.xml 下載路徑問題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76482" y="7590374"/>
            <a:ext cx="8545344" cy="75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2"/>
              </a:lnSpc>
              <a:spcBef>
                <a:spcPct val="0"/>
              </a:spcBef>
            </a:pPr>
            <a:r>
              <a:rPr lang="en-US" sz="2374" spc="59" dirty="0" err="1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Gochi Hand"/>
                <a:sym typeface="Gochi Hand"/>
              </a:rPr>
              <a:t>一開始下載OPENCV的這個模型的時候，他會一直出現路徑問題，後來我們把路徑都給他更詳細的路徑就可以執行了</a:t>
            </a:r>
            <a:r>
              <a:rPr lang="en-US" sz="2374" spc="59" dirty="0">
                <a:solidFill>
                  <a:srgbClr val="000000"/>
                </a:solidFill>
                <a:latin typeface="王漢宗顏楷體" panose="02020500000000000000" charset="-120"/>
                <a:ea typeface="王漢宗顏楷體" panose="02020500000000000000" charset="-120"/>
                <a:cs typeface="Gochi Hand"/>
                <a:sym typeface="Gochi Hand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281327" y="1385238"/>
            <a:ext cx="4403733" cy="729604"/>
            <a:chOff x="0" y="0"/>
            <a:chExt cx="1813014" cy="3003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015" cy="300378"/>
            </a:xfrm>
            <a:custGeom>
              <a:avLst/>
              <a:gdLst/>
              <a:ahLst/>
              <a:cxnLst/>
              <a:rect l="l" t="t" r="r" b="b"/>
              <a:pathLst>
                <a:path w="1813015" h="300378">
                  <a:moveTo>
                    <a:pt x="0" y="0"/>
                  </a:moveTo>
                  <a:lnTo>
                    <a:pt x="1813015" y="0"/>
                  </a:lnTo>
                  <a:lnTo>
                    <a:pt x="1813015" y="300378"/>
                  </a:lnTo>
                  <a:lnTo>
                    <a:pt x="0" y="300378"/>
                  </a:lnTo>
                  <a:close/>
                </a:path>
              </a:pathLst>
            </a:custGeom>
            <a:solidFill>
              <a:srgbClr val="FFED00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13014" cy="348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1599" y="456184"/>
            <a:ext cx="5883190" cy="2159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11"/>
              </a:lnSpc>
            </a:pPr>
            <a:r>
              <a:rPr lang="en-US" sz="11385">
                <a:solidFill>
                  <a:srgbClr val="000000"/>
                </a:solidFill>
                <a:latin typeface="王漢宗顏楷體"/>
                <a:ea typeface="王漢宗顏楷體"/>
                <a:cs typeface="王漢宗顏楷體"/>
                <a:sym typeface="王漢宗顏楷體"/>
              </a:rPr>
              <a:t>實作結果</a:t>
            </a:r>
          </a:p>
        </p:txBody>
      </p:sp>
      <p:sp>
        <p:nvSpPr>
          <p:cNvPr id="7" name="Freeform 7"/>
          <p:cNvSpPr/>
          <p:nvPr/>
        </p:nvSpPr>
        <p:spPr>
          <a:xfrm>
            <a:off x="-399681" y="6781405"/>
            <a:ext cx="3882875" cy="4114800"/>
          </a:xfrm>
          <a:custGeom>
            <a:avLst/>
            <a:gdLst/>
            <a:ahLst/>
            <a:cxnLst/>
            <a:rect l="l" t="t" r="r" b="b"/>
            <a:pathLst>
              <a:path w="3882875" h="4114800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969247" y="4836172"/>
            <a:ext cx="7537872" cy="6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 err="1">
                <a:solidFill>
                  <a:srgbClr val="000000"/>
                </a:solidFill>
                <a:latin typeface="WenQuanYi"/>
                <a:ea typeface="WenQuanYi"/>
                <a:cs typeface="WenQuanYi"/>
                <a:sym typeface="WenQuanYi"/>
                <a:hlinkClick r:id="rId5"/>
              </a:rPr>
              <a:t>三個人全到</a:t>
            </a:r>
            <a:endParaRPr lang="en-US" sz="3700" dirty="0">
              <a:solidFill>
                <a:srgbClr val="000000"/>
              </a:solidFill>
              <a:latin typeface="WenQuanYi"/>
              <a:ea typeface="WenQuanYi"/>
              <a:cs typeface="WenQuanYi"/>
              <a:sym typeface="WenQuanY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34600" y="4836172"/>
            <a:ext cx="5892898" cy="6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 err="1">
                <a:solidFill>
                  <a:srgbClr val="000000"/>
                </a:solidFill>
                <a:latin typeface="WenQuanYi"/>
                <a:ea typeface="WenQuanYi"/>
                <a:cs typeface="WenQuanYi"/>
                <a:sym typeface="WenQuanYi"/>
                <a:hlinkClick r:id="rId6"/>
              </a:rPr>
              <a:t>兩個人同時，且一個人未到</a:t>
            </a:r>
            <a:endParaRPr lang="en-US" sz="3700" dirty="0">
              <a:solidFill>
                <a:srgbClr val="000000"/>
              </a:solidFill>
              <a:latin typeface="WenQuanYi"/>
              <a:ea typeface="WenQuanYi"/>
              <a:cs typeface="WenQuanYi"/>
              <a:sym typeface="WenQuanY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4743581" y="4761500"/>
            <a:ext cx="8800838" cy="764001"/>
            <a:chOff x="0" y="0"/>
            <a:chExt cx="1483434" cy="1287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3434" cy="128777"/>
            </a:xfrm>
            <a:custGeom>
              <a:avLst/>
              <a:gdLst/>
              <a:ahLst/>
              <a:cxnLst/>
              <a:rect l="l" t="t" r="r" b="b"/>
              <a:pathLst>
                <a:path w="1483434" h="128777">
                  <a:moveTo>
                    <a:pt x="0" y="0"/>
                  </a:moveTo>
                  <a:lnTo>
                    <a:pt x="1483434" y="0"/>
                  </a:lnTo>
                  <a:lnTo>
                    <a:pt x="1483434" y="128777"/>
                  </a:lnTo>
                  <a:lnTo>
                    <a:pt x="0" y="128777"/>
                  </a:lnTo>
                  <a:close/>
                </a:path>
              </a:pathLst>
            </a:custGeom>
            <a:solidFill>
              <a:srgbClr val="6CE5E8">
                <a:alpha val="73725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483434" cy="224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1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07972" y="4210034"/>
            <a:ext cx="7872055" cy="191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4"/>
              </a:lnSpc>
              <a:spcBef>
                <a:spcPct val="0"/>
              </a:spcBef>
            </a:pPr>
            <a:r>
              <a:rPr lang="en-US" sz="11174">
                <a:solidFill>
                  <a:srgbClr val="000000"/>
                </a:solidFill>
                <a:latin typeface="Gochi Hand"/>
                <a:ea typeface="Gochi Hand"/>
                <a:cs typeface="Gochi Hand"/>
                <a:sym typeface="Gochi Han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 rot="3657861">
            <a:off x="8192430" y="-1065499"/>
            <a:ext cx="3174467" cy="3364079"/>
          </a:xfrm>
          <a:custGeom>
            <a:avLst/>
            <a:gdLst/>
            <a:ahLst/>
            <a:cxnLst/>
            <a:rect l="l" t="t" r="r" b="b"/>
            <a:pathLst>
              <a:path w="3174467" h="3364079">
                <a:moveTo>
                  <a:pt x="0" y="0"/>
                </a:moveTo>
                <a:lnTo>
                  <a:pt x="3174468" y="0"/>
                </a:lnTo>
                <a:lnTo>
                  <a:pt x="3174468" y="3364079"/>
                </a:lnTo>
                <a:lnTo>
                  <a:pt x="0" y="3364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211</Words>
  <Application>Microsoft Office PowerPoint</Application>
  <PresentationFormat>自訂</PresentationFormat>
  <Paragraphs>57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Arial</vt:lpstr>
      <vt:lpstr>Calibri</vt:lpstr>
      <vt:lpstr>WenQuanYi</vt:lpstr>
      <vt:lpstr>Gochi Hand</vt:lpstr>
      <vt:lpstr>王漢宗顏楷體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影像期末-人臉辨識系統</dc:title>
  <cp:lastModifiedBy>妙軒 郭</cp:lastModifiedBy>
  <cp:revision>3</cp:revision>
  <dcterms:created xsi:type="dcterms:W3CDTF">2006-08-16T00:00:00Z</dcterms:created>
  <dcterms:modified xsi:type="dcterms:W3CDTF">2024-12-30T11:26:17Z</dcterms:modified>
  <dc:identifier>DAGavjnaArw</dc:identifier>
</cp:coreProperties>
</file>